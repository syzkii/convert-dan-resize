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74" r:id="rId3"/>
    <p:sldId id="275" r:id="rId4"/>
    <p:sldId id="276" r:id="rId5"/>
    <p:sldId id="282" r:id="rId6"/>
    <p:sldId id="277" r:id="rId7"/>
    <p:sldId id="278" r:id="rId8"/>
    <p:sldId id="279" r:id="rId9"/>
    <p:sldId id="280" r:id="rId10"/>
    <p:sldId id="281" r:id="rId11"/>
    <p:sldId id="283" r:id="rId12"/>
    <p:sldId id="284" r:id="rId13"/>
    <p:sldId id="285" r:id="rId14"/>
    <p:sldId id="286"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3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4" autoAdjust="0"/>
    <p:restoredTop sz="94630" autoAdjust="0"/>
  </p:normalViewPr>
  <p:slideViewPr>
    <p:cSldViewPr snapToGrid="0">
      <p:cViewPr varScale="1">
        <p:scale>
          <a:sx n="40" d="100"/>
          <a:sy n="40" d="100"/>
        </p:scale>
        <p:origin x="48" y="7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FF502-55E4-40A7-B8B9-019A639A219E}" type="datetimeFigureOut">
              <a:rPr lang="en-US" smtClean="0"/>
              <a:t>8/12/2021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3DE070-8B48-4B25-99A3-108D88F9B224}" type="slidenum">
              <a:rPr lang="en-US" smtClean="0"/>
              <a:t>‹#›</a:t>
            </a:fld>
            <a:endParaRPr lang="en-US"/>
          </a:p>
        </p:txBody>
      </p:sp>
    </p:spTree>
    <p:extLst>
      <p:ext uri="{BB962C8B-B14F-4D97-AF65-F5344CB8AC3E}">
        <p14:creationId xmlns:p14="http://schemas.microsoft.com/office/powerpoint/2010/main" val="311826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Calibri" panose="020F0502020204030204" pitchFamily="34" charset="0"/>
              </a:defRPr>
            </a:lvl1pPr>
            <a:lvl2pPr marL="742950" indent="-285750">
              <a:spcBef>
                <a:spcPct val="30000"/>
              </a:spcBef>
              <a:defRPr sz="1300">
                <a:solidFill>
                  <a:schemeClr val="tx1"/>
                </a:solidFill>
                <a:latin typeface="Calibri" panose="020F0502020204030204" pitchFamily="34" charset="0"/>
              </a:defRPr>
            </a:lvl2pPr>
            <a:lvl3pPr marL="1143000" indent="-228600">
              <a:spcBef>
                <a:spcPct val="30000"/>
              </a:spcBef>
              <a:defRPr sz="1300">
                <a:solidFill>
                  <a:schemeClr val="tx1"/>
                </a:solidFill>
                <a:latin typeface="Calibri" panose="020F0502020204030204" pitchFamily="34" charset="0"/>
              </a:defRPr>
            </a:lvl3pPr>
            <a:lvl4pPr marL="1600200" indent="-228600">
              <a:spcBef>
                <a:spcPct val="30000"/>
              </a:spcBef>
              <a:defRPr sz="1300">
                <a:solidFill>
                  <a:schemeClr val="tx1"/>
                </a:solidFill>
                <a:latin typeface="Calibri" panose="020F0502020204030204" pitchFamily="34" charset="0"/>
              </a:defRPr>
            </a:lvl4pPr>
            <a:lvl5pPr marL="2057400" indent="-228600">
              <a:spcBef>
                <a:spcPct val="30000"/>
              </a:spcBef>
              <a:defRPr sz="1300">
                <a:solidFill>
                  <a:schemeClr val="tx1"/>
                </a:solidFill>
                <a:latin typeface="Calibri" panose="020F0502020204030204" pitchFamily="34" charset="0"/>
              </a:defRPr>
            </a:lvl5pPr>
            <a:lvl6pPr marL="2514600" indent="-228600" defTabSz="495300" eaLnBrk="0" fontAlgn="base" hangingPunct="0">
              <a:spcBef>
                <a:spcPct val="30000"/>
              </a:spcBef>
              <a:spcAft>
                <a:spcPct val="0"/>
              </a:spcAft>
              <a:defRPr sz="1300">
                <a:solidFill>
                  <a:schemeClr val="tx1"/>
                </a:solidFill>
                <a:latin typeface="Calibri" panose="020F0502020204030204" pitchFamily="34" charset="0"/>
              </a:defRPr>
            </a:lvl6pPr>
            <a:lvl7pPr marL="2971800" indent="-228600" defTabSz="495300" eaLnBrk="0" fontAlgn="base" hangingPunct="0">
              <a:spcBef>
                <a:spcPct val="30000"/>
              </a:spcBef>
              <a:spcAft>
                <a:spcPct val="0"/>
              </a:spcAft>
              <a:defRPr sz="1300">
                <a:solidFill>
                  <a:schemeClr val="tx1"/>
                </a:solidFill>
                <a:latin typeface="Calibri" panose="020F0502020204030204" pitchFamily="34" charset="0"/>
              </a:defRPr>
            </a:lvl7pPr>
            <a:lvl8pPr marL="3429000" indent="-228600" defTabSz="495300" eaLnBrk="0" fontAlgn="base" hangingPunct="0">
              <a:spcBef>
                <a:spcPct val="30000"/>
              </a:spcBef>
              <a:spcAft>
                <a:spcPct val="0"/>
              </a:spcAft>
              <a:defRPr sz="1300">
                <a:solidFill>
                  <a:schemeClr val="tx1"/>
                </a:solidFill>
                <a:latin typeface="Calibri" panose="020F0502020204030204" pitchFamily="34" charset="0"/>
              </a:defRPr>
            </a:lvl8pPr>
            <a:lvl9pPr marL="3886200" indent="-228600" defTabSz="495300" eaLnBrk="0" fontAlgn="base" hangingPunct="0">
              <a:spcBef>
                <a:spcPct val="30000"/>
              </a:spcBef>
              <a:spcAft>
                <a:spcPct val="0"/>
              </a:spcAft>
              <a:defRPr sz="1300">
                <a:solidFill>
                  <a:schemeClr val="tx1"/>
                </a:solidFill>
                <a:latin typeface="Calibri" panose="020F0502020204030204" pitchFamily="34" charset="0"/>
              </a:defRPr>
            </a:lvl9pPr>
          </a:lstStyle>
          <a:p>
            <a:pPr>
              <a:spcBef>
                <a:spcPct val="0"/>
              </a:spcBef>
            </a:pPr>
            <a:fld id="{B63DD617-6359-4ADA-974D-7CC774EA6C12}" type="slidenum">
              <a:rPr lang="en-US" altLang="en-US" sz="1200" smtClean="0">
                <a:latin typeface="Arial" panose="020B0604020202020204" pitchFamily="34" charset="0"/>
              </a:rPr>
              <a:pPr>
                <a:spcBef>
                  <a:spcPct val="0"/>
                </a:spcBef>
              </a:pPr>
              <a:t>1</a:t>
            </a:fld>
            <a:endParaRPr lang="en-US" altLang="en-US" sz="1200">
              <a:latin typeface="Arial" panose="020B0604020202020204" pitchFamily="34" charset="0"/>
            </a:endParaRPr>
          </a:p>
        </p:txBody>
      </p:sp>
    </p:spTree>
    <p:extLst>
      <p:ext uri="{BB962C8B-B14F-4D97-AF65-F5344CB8AC3E}">
        <p14:creationId xmlns:p14="http://schemas.microsoft.com/office/powerpoint/2010/main" val="3224099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E58004F-299B-411C-9CA5-288D55D0283C}" type="datetimeFigureOut">
              <a:rPr lang="en-US" smtClean="0"/>
              <a:t>8/12/2021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3958228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28344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58004F-299B-411C-9CA5-288D55D0283C}" type="datetimeFigureOut">
              <a:rPr lang="en-US" smtClean="0"/>
              <a:t>8/12/2021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42326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58004F-299B-411C-9CA5-288D55D0283C}" type="datetimeFigureOut">
              <a:rPr lang="en-US" smtClean="0"/>
              <a:t>8/12/2021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28865220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58004F-299B-411C-9CA5-288D55D0283C}" type="datetimeFigureOut">
              <a:rPr lang="en-US" smtClean="0"/>
              <a:t>8/12/2021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73984374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58004F-299B-411C-9CA5-288D55D0283C}" type="datetimeFigureOut">
              <a:rPr lang="en-US" smtClean="0"/>
              <a:t>8/12/2021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399194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58004F-299B-411C-9CA5-288D55D0283C}" type="datetimeFigureOut">
              <a:rPr lang="en-US" smtClean="0"/>
              <a:t>8/12/2021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240837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95490834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4769428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8905185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689565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58004F-299B-411C-9CA5-288D55D0283C}" type="datetimeFigureOut">
              <a:rPr lang="en-US" smtClean="0"/>
              <a:t>8/12/2021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18D7B-460E-40A3-AA98-7C2642151E3C}" type="slidenum">
              <a:rPr lang="en-US" smtClean="0"/>
              <a:t>‹#›</a:t>
            </a:fld>
            <a:endParaRPr lang="en-US"/>
          </a:p>
        </p:txBody>
      </p:sp>
    </p:spTree>
    <p:extLst>
      <p:ext uri="{BB962C8B-B14F-4D97-AF65-F5344CB8AC3E}">
        <p14:creationId xmlns:p14="http://schemas.microsoft.com/office/powerpoint/2010/main" val="1261580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blinds dir="vert"/>
        <p:sndAc>
          <p:stSnd>
            <p:snd r:embed="rId13" name="whoosh.wav"/>
          </p:stSnd>
        </p:sndAc>
      </p:transition>
    </mc:Choice>
    <mc:Fallback xmlns="">
      <p:transition spd="slow">
        <p:blinds dir="vert"/>
        <p:sndAc>
          <p:stSnd>
            <p:snd r:embed="rId15" name="whoosh.wav"/>
          </p:stSnd>
        </p:sndAc>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8B2E021C-F2B5-470F-BA90-8F3C01E9B787}"/>
              </a:ext>
            </a:extLst>
          </p:cNvPr>
          <p:cNvSpPr txBox="1">
            <a:spLocks noChangeArrowheads="1"/>
          </p:cNvSpPr>
          <p:nvPr/>
        </p:nvSpPr>
        <p:spPr bwMode="auto">
          <a:xfrm>
            <a:off x="1734894" y="1656396"/>
            <a:ext cx="8572500" cy="89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07" tIns="41454" rIns="82907" bIns="4145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defRPr>
            </a:lvl5pPr>
            <a:lvl6pPr marL="25146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6pPr>
            <a:lvl7pPr marL="29718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7pPr>
            <a:lvl8pPr marL="34290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8pPr>
            <a:lvl9pPr marL="38862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9pPr>
          </a:lstStyle>
          <a:p>
            <a:pPr algn="ctr">
              <a:buNone/>
            </a:pPr>
            <a:r>
              <a:rPr lang="id-ID" sz="2400" b="1" dirty="0"/>
              <a:t>MATERI PENGAYAAAN </a:t>
            </a:r>
          </a:p>
          <a:p>
            <a:pPr algn="ctr">
              <a:buNone/>
            </a:pPr>
            <a:r>
              <a:rPr lang="id-ID" sz="2400" b="1" dirty="0"/>
              <a:t>MSIM4303 REKAYASA PERANGAKAT LUNAK</a:t>
            </a:r>
            <a:endParaRPr lang="id-ID" sz="2400" dirty="0">
              <a:effectLst/>
            </a:endParaRPr>
          </a:p>
        </p:txBody>
      </p:sp>
      <p:sp>
        <p:nvSpPr>
          <p:cNvPr id="6" name="TextBox 3">
            <a:extLst>
              <a:ext uri="{FF2B5EF4-FFF2-40B4-BE49-F238E27FC236}">
                <a16:creationId xmlns:a16="http://schemas.microsoft.com/office/drawing/2014/main" id="{C7D4CDBD-5EC8-4365-A58B-3C437FF800E6}"/>
              </a:ext>
            </a:extLst>
          </p:cNvPr>
          <p:cNvSpPr txBox="1">
            <a:spLocks noChangeArrowheads="1"/>
          </p:cNvSpPr>
          <p:nvPr/>
        </p:nvSpPr>
        <p:spPr bwMode="auto">
          <a:xfrm>
            <a:off x="3997194" y="4909317"/>
            <a:ext cx="4047904" cy="10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en-US" sz="2176" b="1" dirty="0" err="1">
                <a:latin typeface="Century Gothic" panose="020B0502020202020204" pitchFamily="34" charset="0"/>
              </a:rPr>
              <a:t>Sistem</a:t>
            </a:r>
            <a:r>
              <a:rPr lang="en-US" altLang="en-US" sz="2176" b="1" dirty="0">
                <a:latin typeface="Century Gothic" panose="020B0502020202020204" pitchFamily="34" charset="0"/>
              </a:rPr>
              <a:t> </a:t>
            </a:r>
            <a:r>
              <a:rPr lang="en-US" altLang="en-US" sz="2176" b="1" dirty="0" err="1">
                <a:latin typeface="Century Gothic" panose="020B0502020202020204" pitchFamily="34" charset="0"/>
              </a:rPr>
              <a:t>Informasi</a:t>
            </a:r>
            <a:endParaRPr lang="en-US" altLang="en-US" sz="2176" b="1" dirty="0">
              <a:latin typeface="Century Gothic" panose="020B0502020202020204" pitchFamily="34" charset="0"/>
            </a:endParaRPr>
          </a:p>
          <a:p>
            <a:pPr algn="ctr" eaLnBrk="1" hangingPunct="1"/>
            <a:r>
              <a:rPr lang="id-ID" altLang="en-US" sz="2176" b="1" dirty="0">
                <a:latin typeface="Century Gothic" panose="020B0502020202020204" pitchFamily="34" charset="0"/>
              </a:rPr>
              <a:t>Fakultas Sains dan Teknologi</a:t>
            </a:r>
            <a:endParaRPr lang="en-US" altLang="en-US" sz="2176" b="1" dirty="0">
              <a:latin typeface="Century Gothic" panose="020B0502020202020204" pitchFamily="34" charset="0"/>
            </a:endParaRPr>
          </a:p>
          <a:p>
            <a:pPr algn="ctr" eaLnBrk="1" hangingPunct="1"/>
            <a:r>
              <a:rPr lang="en-US" altLang="en-US" sz="2176" b="1" dirty="0" err="1">
                <a:latin typeface="Century Gothic" panose="020B0502020202020204" pitchFamily="34" charset="0"/>
              </a:rPr>
              <a:t>Universitas</a:t>
            </a:r>
            <a:r>
              <a:rPr lang="en-US" altLang="en-US" sz="2176" b="1" dirty="0">
                <a:latin typeface="Century Gothic" panose="020B0502020202020204" pitchFamily="34" charset="0"/>
              </a:rPr>
              <a:t> Terbuka</a:t>
            </a:r>
          </a:p>
        </p:txBody>
      </p:sp>
      <p:sp>
        <p:nvSpPr>
          <p:cNvPr id="8" name="Rectangle 7">
            <a:extLst>
              <a:ext uri="{FF2B5EF4-FFF2-40B4-BE49-F238E27FC236}">
                <a16:creationId xmlns:a16="http://schemas.microsoft.com/office/drawing/2014/main" id="{39F8A999-A9AC-4969-983B-AEFAE83D05FC}"/>
              </a:ext>
            </a:extLst>
          </p:cNvPr>
          <p:cNvSpPr/>
          <p:nvPr/>
        </p:nvSpPr>
        <p:spPr>
          <a:xfrm>
            <a:off x="2836507" y="443369"/>
            <a:ext cx="9318171" cy="7509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769DE-2A5D-4AD6-AA5B-A4CCB6BA4112}"/>
              </a:ext>
            </a:extLst>
          </p:cNvPr>
          <p:cNvSpPr txBox="1"/>
          <p:nvPr/>
        </p:nvSpPr>
        <p:spPr>
          <a:xfrm>
            <a:off x="1226660" y="3059668"/>
            <a:ext cx="9588971" cy="1323439"/>
          </a:xfrm>
          <a:prstGeom prst="rect">
            <a:avLst/>
          </a:prstGeom>
          <a:noFill/>
        </p:spPr>
        <p:txBody>
          <a:bodyPr wrap="none" rtlCol="0">
            <a:spAutoFit/>
          </a:bodyPr>
          <a:lstStyle/>
          <a:p>
            <a:pPr algn="ctr">
              <a:spcBef>
                <a:spcPct val="0"/>
              </a:spcBef>
              <a:buNone/>
            </a:pPr>
            <a:r>
              <a:rPr lang="id-ID" sz="4000" dirty="0"/>
              <a:t>SESI 5</a:t>
            </a:r>
          </a:p>
          <a:p>
            <a:pPr algn="ctr">
              <a:spcBef>
                <a:spcPct val="0"/>
              </a:spcBef>
              <a:buNone/>
            </a:pPr>
            <a:r>
              <a:rPr lang="en-US" sz="4000" dirty="0" err="1"/>
              <a:t>Rekayasa</a:t>
            </a:r>
            <a:r>
              <a:rPr lang="en-US" sz="4000" dirty="0"/>
              <a:t> </a:t>
            </a:r>
            <a:r>
              <a:rPr lang="en-US" sz="4000" dirty="0" err="1"/>
              <a:t>Perangkat</a:t>
            </a:r>
            <a:r>
              <a:rPr lang="en-US" sz="4000" dirty="0"/>
              <a:t> </a:t>
            </a:r>
            <a:r>
              <a:rPr lang="en-US" sz="4000" dirty="0" err="1"/>
              <a:t>Lunak</a:t>
            </a:r>
            <a:r>
              <a:rPr lang="en-US" sz="4000" dirty="0"/>
              <a:t> </a:t>
            </a:r>
            <a:r>
              <a:rPr lang="en-US" sz="4000" dirty="0" err="1"/>
              <a:t>Berorientasi</a:t>
            </a:r>
            <a:r>
              <a:rPr lang="en-US" sz="4000" dirty="0"/>
              <a:t> </a:t>
            </a:r>
            <a:r>
              <a:rPr lang="en-US" sz="4000" dirty="0" err="1"/>
              <a:t>Objek</a:t>
            </a:r>
            <a:endParaRPr lang="id-ID" altLang="en-US" sz="5400" dirty="0">
              <a:solidFill>
                <a:srgbClr val="FF0000"/>
              </a:solidFill>
              <a:latin typeface="Britannic Bold" panose="020B0903060703020204" pitchFamily="34" charset="0"/>
            </a:endParaRPr>
          </a:p>
        </p:txBody>
      </p:sp>
    </p:spTree>
    <p:extLst>
      <p:ext uri="{BB962C8B-B14F-4D97-AF65-F5344CB8AC3E}">
        <p14:creationId xmlns:p14="http://schemas.microsoft.com/office/powerpoint/2010/main" val="209764992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3" name="whoosh.wav"/>
          </p:stSnd>
        </p:sndAc>
      </p:transition>
    </mc:Choice>
    <mc:Fallback xmlns="">
      <p:transition spd="slow">
        <p:blinds dir="vert"/>
        <p:sndAc>
          <p:stSnd>
            <p:snd r:embed="rId9"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id-ID" dirty="0"/>
              <a:t>Rekayasa Perangkat Lunak Berorientasi Objek</a:t>
            </a:r>
            <a:br>
              <a:rPr lang="id-ID" dirty="0"/>
            </a:b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Metodologi berorientasi objek adalah suatu strategi pembangunan perangkat lunak yang mengorganisasikan perangkat lunak sebagai kumpulan objek yang berisi data dan operasi yang diberlakukan terhadapnya. Metodologi berorientasi objek merupakan suatu cara bagaimana sistem perangkat lunak dibangun melalui pendekatan objek secara sistematis. </a:t>
            </a:r>
          </a:p>
        </p:txBody>
      </p:sp>
    </p:spTree>
    <p:extLst>
      <p:ext uri="{BB962C8B-B14F-4D97-AF65-F5344CB8AC3E}">
        <p14:creationId xmlns:p14="http://schemas.microsoft.com/office/powerpoint/2010/main" val="380809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id-ID" dirty="0"/>
              <a:t>Keuntungan menggunakan metodologi berorientasi objek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1.	meningkatkan produktivitas</a:t>
            </a:r>
          </a:p>
          <a:p>
            <a:r>
              <a:rPr lang="id-ID" dirty="0"/>
              <a:t>2.	kecepatan pengembangan</a:t>
            </a:r>
          </a:p>
          <a:p>
            <a:r>
              <a:rPr lang="id-ID" dirty="0"/>
              <a:t>3.	kemudahan pemeliharaan</a:t>
            </a:r>
          </a:p>
          <a:p>
            <a:r>
              <a:rPr lang="id-ID" dirty="0"/>
              <a:t>4.	adanya konsistensi</a:t>
            </a:r>
          </a:p>
          <a:p>
            <a:r>
              <a:rPr lang="fi-FI" dirty="0"/>
              <a:t>5.	meningkatkan kualitas perangkat lunak</a:t>
            </a:r>
            <a:endParaRPr lang="id-ID" dirty="0"/>
          </a:p>
        </p:txBody>
      </p:sp>
    </p:spTree>
    <p:extLst>
      <p:ext uri="{BB962C8B-B14F-4D97-AF65-F5344CB8AC3E}">
        <p14:creationId xmlns:p14="http://schemas.microsoft.com/office/powerpoint/2010/main" val="1054042068"/>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Konsep Dasar Berorientasi Objek</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lnSpcReduction="10000"/>
          </a:bodyPr>
          <a:lstStyle/>
          <a:p>
            <a:r>
              <a:rPr lang="id-ID" dirty="0"/>
              <a:t>Kelas (</a:t>
            </a:r>
            <a:r>
              <a:rPr lang="id-ID" dirty="0" err="1"/>
              <a:t>class</a:t>
            </a:r>
            <a:r>
              <a:rPr lang="id-ID" dirty="0"/>
              <a:t>)</a:t>
            </a:r>
          </a:p>
          <a:p>
            <a:r>
              <a:rPr lang="id-ID" dirty="0"/>
              <a:t>Objek (</a:t>
            </a:r>
            <a:r>
              <a:rPr lang="id-ID" dirty="0" err="1"/>
              <a:t>object</a:t>
            </a:r>
            <a:r>
              <a:rPr lang="id-ID" dirty="0"/>
              <a:t>)</a:t>
            </a:r>
          </a:p>
          <a:p>
            <a:r>
              <a:rPr lang="id-ID" dirty="0"/>
              <a:t>Atribut (</a:t>
            </a:r>
            <a:r>
              <a:rPr lang="id-ID" dirty="0" err="1"/>
              <a:t>attribute</a:t>
            </a:r>
            <a:r>
              <a:rPr lang="id-ID" dirty="0"/>
              <a:t>)</a:t>
            </a:r>
          </a:p>
          <a:p>
            <a:r>
              <a:rPr lang="id-ID" dirty="0"/>
              <a:t>Metode (</a:t>
            </a:r>
            <a:r>
              <a:rPr lang="id-ID" dirty="0" err="1"/>
              <a:t>method</a:t>
            </a:r>
            <a:r>
              <a:rPr lang="id-ID" dirty="0"/>
              <a:t>)</a:t>
            </a:r>
          </a:p>
          <a:p>
            <a:r>
              <a:rPr lang="id-ID" dirty="0"/>
              <a:t>Abstraksi (</a:t>
            </a:r>
            <a:r>
              <a:rPr lang="id-ID" dirty="0" err="1"/>
              <a:t>abstraction</a:t>
            </a:r>
            <a:r>
              <a:rPr lang="id-ID" dirty="0"/>
              <a:t>)</a:t>
            </a:r>
          </a:p>
          <a:p>
            <a:r>
              <a:rPr lang="id-ID" dirty="0"/>
              <a:t>Enkapsulasi (</a:t>
            </a:r>
            <a:r>
              <a:rPr lang="id-ID" dirty="0" err="1"/>
              <a:t>encapsulation</a:t>
            </a:r>
            <a:r>
              <a:rPr lang="id-ID" dirty="0"/>
              <a:t>)</a:t>
            </a:r>
          </a:p>
          <a:p>
            <a:r>
              <a:rPr lang="id-ID" dirty="0"/>
              <a:t>Pewarisan (</a:t>
            </a:r>
            <a:r>
              <a:rPr lang="id-ID" dirty="0" err="1"/>
              <a:t>inheritance</a:t>
            </a:r>
            <a:r>
              <a:rPr lang="id-ID" dirty="0"/>
              <a:t>)</a:t>
            </a:r>
          </a:p>
          <a:p>
            <a:r>
              <a:rPr lang="id-ID" dirty="0"/>
              <a:t>Antarmuka (</a:t>
            </a:r>
            <a:r>
              <a:rPr lang="id-ID" dirty="0" err="1"/>
              <a:t>interface</a:t>
            </a:r>
            <a:r>
              <a:rPr lang="id-ID" dirty="0"/>
              <a:t>)</a:t>
            </a:r>
          </a:p>
          <a:p>
            <a:r>
              <a:rPr lang="id-ID" dirty="0" err="1"/>
              <a:t>Reusabilily</a:t>
            </a:r>
            <a:endParaRPr lang="id-ID" dirty="0"/>
          </a:p>
          <a:p>
            <a:endParaRPr lang="id-ID" dirty="0"/>
          </a:p>
        </p:txBody>
      </p:sp>
    </p:spTree>
    <p:extLst>
      <p:ext uri="{BB962C8B-B14F-4D97-AF65-F5344CB8AC3E}">
        <p14:creationId xmlns:p14="http://schemas.microsoft.com/office/powerpoint/2010/main" val="2878278057"/>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Konsep Dasar Berorientasi Objek</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Generalisasi dan Spesialisasi</a:t>
            </a:r>
          </a:p>
          <a:p>
            <a:r>
              <a:rPr lang="id-ID" dirty="0"/>
              <a:t>Komunikasi Antar Objek</a:t>
            </a:r>
          </a:p>
          <a:p>
            <a:r>
              <a:rPr lang="id-ID" dirty="0" err="1"/>
              <a:t>Polimorfisme</a:t>
            </a:r>
            <a:r>
              <a:rPr lang="id-ID" dirty="0"/>
              <a:t> (</a:t>
            </a:r>
            <a:r>
              <a:rPr lang="id-ID" dirty="0" err="1"/>
              <a:t>polymorphism</a:t>
            </a:r>
            <a:r>
              <a:rPr lang="id-ID" dirty="0"/>
              <a:t>)</a:t>
            </a:r>
          </a:p>
          <a:p>
            <a:r>
              <a:rPr lang="id-ID" dirty="0" err="1"/>
              <a:t>Package</a:t>
            </a:r>
            <a:endParaRPr lang="id-ID" dirty="0"/>
          </a:p>
        </p:txBody>
      </p:sp>
    </p:spTree>
    <p:extLst>
      <p:ext uri="{BB962C8B-B14F-4D97-AF65-F5344CB8AC3E}">
        <p14:creationId xmlns:p14="http://schemas.microsoft.com/office/powerpoint/2010/main" val="3066369695"/>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UML</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92500" lnSpcReduction="20000"/>
          </a:bodyPr>
          <a:lstStyle/>
          <a:p>
            <a:r>
              <a:rPr lang="id-ID" dirty="0"/>
              <a:t>Pemodelan</a:t>
            </a:r>
          </a:p>
          <a:p>
            <a:r>
              <a:rPr lang="id-ID" dirty="0"/>
              <a:t>Pemodelan adalah gambaran dari </a:t>
            </a:r>
            <a:r>
              <a:rPr lang="id-ID" dirty="0" err="1"/>
              <a:t>realita</a:t>
            </a:r>
            <a:r>
              <a:rPr lang="id-ID" dirty="0"/>
              <a:t> yang simpel dan dituangkan dalam bentuk pemetaan dengan aturan tertentu. Pemodelan dapat menggunakan bentuk yang sama dengan realitas misalnya jika seorang arsitek ingin memodelkan sebuah gedung yang akan dibangun maka dia akan memodelkannya dengan membuat sebuah maket (tiruan) arsitektur gedung yang akan dibangun dimana maket itu akan dibuat semirip mungkin dengan desain gedung yang akan dibangun agar arsitektur gedung yang diinginkan dapat terlihat. Seperti yang kita ketahui bahwa manusia akan lebih memahami suatu hal dengan menggunakan visual agar sekelompok manusia yang berkepentingan dapat mengerti bagaimanakah ide yang akan dikerjakan. Pemodelan juga banyak digunakan untuk merencanakan suatu hal agar kegagalan dan risiko yang  </a:t>
            </a:r>
            <a:r>
              <a:rPr lang="id-ID" dirty="0" err="1"/>
              <a:t>yang</a:t>
            </a:r>
            <a:r>
              <a:rPr lang="id-ID" dirty="0"/>
              <a:t> mungkin terjadi dapat </a:t>
            </a:r>
            <a:r>
              <a:rPr lang="id-ID" dirty="0" err="1"/>
              <a:t>diminimalisir</a:t>
            </a:r>
            <a:r>
              <a:rPr lang="id-ID" dirty="0"/>
              <a:t>.</a:t>
            </a:r>
          </a:p>
        </p:txBody>
      </p:sp>
    </p:spTree>
    <p:extLst>
      <p:ext uri="{BB962C8B-B14F-4D97-AF65-F5344CB8AC3E}">
        <p14:creationId xmlns:p14="http://schemas.microsoft.com/office/powerpoint/2010/main" val="675400136"/>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Diagram UML</a:t>
            </a:r>
          </a:p>
        </p:txBody>
      </p:sp>
      <p:pic>
        <p:nvPicPr>
          <p:cNvPr id="4098" name="Picture 2">
            <a:extLst>
              <a:ext uri="{FF2B5EF4-FFF2-40B4-BE49-F238E27FC236}">
                <a16:creationId xmlns:a16="http://schemas.microsoft.com/office/drawing/2014/main" id="{C6A83418-CD09-4DBD-95E5-836323C895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8160" y="1325218"/>
            <a:ext cx="4735679" cy="5404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8957683"/>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err="1"/>
              <a:t>Class</a:t>
            </a:r>
            <a:r>
              <a:rPr lang="id-ID" dirty="0"/>
              <a:t> Diagram</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Diagram kelas atau </a:t>
            </a:r>
            <a:r>
              <a:rPr lang="id-ID" dirty="0" err="1"/>
              <a:t>class</a:t>
            </a:r>
            <a:r>
              <a:rPr lang="id-ID" dirty="0"/>
              <a:t> diagram menggambarkan struktur sistem dari segi pendefinisian kelas-kelas yang akan dibuat untuk membangun sistem.  Kelas memiliki apa yang disebut atribut dan metode atau operasi. </a:t>
            </a:r>
          </a:p>
          <a:p>
            <a:r>
              <a:rPr lang="id-ID" dirty="0"/>
              <a:t>atribut merupakan variabel-variabel yang dimiliki oleh suatu kelas</a:t>
            </a:r>
          </a:p>
          <a:p>
            <a:r>
              <a:rPr lang="id-ID" dirty="0"/>
              <a:t>operasi atau metode adalah fungsi-fungsi yang dimiliki oleh suatu kelas</a:t>
            </a:r>
          </a:p>
          <a:p>
            <a:endParaRPr lang="id-ID" dirty="0"/>
          </a:p>
        </p:txBody>
      </p:sp>
    </p:spTree>
    <p:extLst>
      <p:ext uri="{BB962C8B-B14F-4D97-AF65-F5344CB8AC3E}">
        <p14:creationId xmlns:p14="http://schemas.microsoft.com/office/powerpoint/2010/main" val="1896513425"/>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err="1"/>
              <a:t>Object</a:t>
            </a:r>
            <a:r>
              <a:rPr lang="id-ID" dirty="0"/>
              <a:t> Diagram</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Diagram objek menggambarkan struktur sistem dari segi penamaan objek dan jalannya objek dalam sistem</a:t>
            </a:r>
          </a:p>
        </p:txBody>
      </p:sp>
      <p:pic>
        <p:nvPicPr>
          <p:cNvPr id="4" name="Picture 3">
            <a:extLst>
              <a:ext uri="{FF2B5EF4-FFF2-40B4-BE49-F238E27FC236}">
                <a16:creationId xmlns:a16="http://schemas.microsoft.com/office/drawing/2014/main" id="{ABBC171B-D9A6-478C-8AF5-5D79AC1FEEBC}"/>
              </a:ext>
            </a:extLst>
          </p:cNvPr>
          <p:cNvPicPr>
            <a:picLocks noChangeAspect="1"/>
          </p:cNvPicPr>
          <p:nvPr/>
        </p:nvPicPr>
        <p:blipFill>
          <a:blip r:embed="rId3"/>
          <a:stretch>
            <a:fillRect/>
          </a:stretch>
        </p:blipFill>
        <p:spPr>
          <a:xfrm>
            <a:off x="2817314" y="2838731"/>
            <a:ext cx="6557371" cy="2812450"/>
          </a:xfrm>
          <a:prstGeom prst="rect">
            <a:avLst/>
          </a:prstGeom>
        </p:spPr>
      </p:pic>
    </p:spTree>
    <p:extLst>
      <p:ext uri="{BB962C8B-B14F-4D97-AF65-F5344CB8AC3E}">
        <p14:creationId xmlns:p14="http://schemas.microsoft.com/office/powerpoint/2010/main" val="674747765"/>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err="1"/>
              <a:t>Component</a:t>
            </a:r>
            <a:r>
              <a:rPr lang="id-ID" dirty="0"/>
              <a:t> Diagram</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Diagram komponen atau </a:t>
            </a:r>
            <a:r>
              <a:rPr lang="id-ID" dirty="0" err="1"/>
              <a:t>component</a:t>
            </a:r>
            <a:r>
              <a:rPr lang="id-ID" dirty="0"/>
              <a:t> diagram dibuat untuk menunjukkan organisasi dan ketergantungan </a:t>
            </a:r>
            <a:r>
              <a:rPr lang="id-ID" dirty="0" err="1"/>
              <a:t>diantara</a:t>
            </a:r>
            <a:r>
              <a:rPr lang="id-ID" dirty="0"/>
              <a:t> kumpulan komponen dalam sebuah sistem</a:t>
            </a:r>
          </a:p>
        </p:txBody>
      </p:sp>
      <p:pic>
        <p:nvPicPr>
          <p:cNvPr id="5122" name="Picture 19">
            <a:extLst>
              <a:ext uri="{FF2B5EF4-FFF2-40B4-BE49-F238E27FC236}">
                <a16:creationId xmlns:a16="http://schemas.microsoft.com/office/drawing/2014/main" id="{869717BE-4CBD-442D-98B0-E8BC855D8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6428" y="3132973"/>
            <a:ext cx="6659144" cy="2758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2659217"/>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err="1"/>
              <a:t>Deployment</a:t>
            </a:r>
            <a:r>
              <a:rPr lang="id-ID" dirty="0"/>
              <a:t> Diagram</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92500" lnSpcReduction="10000"/>
          </a:bodyPr>
          <a:lstStyle/>
          <a:p>
            <a:r>
              <a:rPr lang="id-ID" dirty="0"/>
              <a:t>Diagram </a:t>
            </a:r>
            <a:r>
              <a:rPr lang="id-ID" dirty="0" err="1"/>
              <a:t>deployment</a:t>
            </a:r>
            <a:r>
              <a:rPr lang="id-ID" dirty="0"/>
              <a:t> atau </a:t>
            </a:r>
            <a:r>
              <a:rPr lang="id-ID" dirty="0" err="1"/>
              <a:t>deployment</a:t>
            </a:r>
            <a:r>
              <a:rPr lang="id-ID" dirty="0"/>
              <a:t> diagram menunjukkan konfigurasi komponen dalam proses eksekusi aplikasi. Diagram </a:t>
            </a:r>
            <a:r>
              <a:rPr lang="id-ID" dirty="0" err="1"/>
              <a:t>deployment</a:t>
            </a:r>
            <a:r>
              <a:rPr lang="id-ID" dirty="0"/>
              <a:t> juga dapat digunakan untuk memodelkan hal-hal berikut:</a:t>
            </a:r>
          </a:p>
          <a:p>
            <a:r>
              <a:rPr lang="id-ID" dirty="0"/>
              <a:t>sistem tambahan (</a:t>
            </a:r>
            <a:r>
              <a:rPr lang="id-ID" dirty="0" err="1"/>
              <a:t>embedded</a:t>
            </a:r>
            <a:r>
              <a:rPr lang="id-ID" dirty="0"/>
              <a:t> </a:t>
            </a:r>
            <a:r>
              <a:rPr lang="id-ID" dirty="0" err="1"/>
              <a:t>system</a:t>
            </a:r>
            <a:r>
              <a:rPr lang="id-ID" dirty="0"/>
              <a:t>) yang menggambarkan rancangan </a:t>
            </a:r>
            <a:r>
              <a:rPr lang="id-ID" dirty="0" err="1"/>
              <a:t>device</a:t>
            </a:r>
            <a:r>
              <a:rPr lang="id-ID" dirty="0"/>
              <a:t>, </a:t>
            </a:r>
            <a:r>
              <a:rPr lang="id-ID" dirty="0" err="1"/>
              <a:t>node</a:t>
            </a:r>
            <a:r>
              <a:rPr lang="id-ID" dirty="0"/>
              <a:t>, dan </a:t>
            </a:r>
            <a:r>
              <a:rPr lang="id-ID" dirty="0" err="1"/>
              <a:t>hardware</a:t>
            </a:r>
            <a:r>
              <a:rPr lang="id-ID" dirty="0"/>
              <a:t>.</a:t>
            </a:r>
          </a:p>
          <a:p>
            <a:r>
              <a:rPr lang="id-ID" dirty="0"/>
              <a:t>sistem </a:t>
            </a:r>
            <a:r>
              <a:rPr lang="id-ID" dirty="0" err="1"/>
              <a:t>client</a:t>
            </a:r>
            <a:r>
              <a:rPr lang="id-ID" dirty="0"/>
              <a:t>/server misalnya seperti gambar berikut:</a:t>
            </a:r>
          </a:p>
          <a:p>
            <a:endParaRPr lang="id-ID" dirty="0"/>
          </a:p>
          <a:p>
            <a:endParaRPr lang="id-ID" dirty="0"/>
          </a:p>
          <a:p>
            <a:r>
              <a:rPr lang="id-ID" dirty="0"/>
              <a:t>sistem terdistribusi murni</a:t>
            </a:r>
          </a:p>
          <a:p>
            <a:r>
              <a:rPr lang="id-ID" dirty="0"/>
              <a:t>rekayasa ulang aplikasi</a:t>
            </a:r>
          </a:p>
          <a:p>
            <a:endParaRPr lang="id-ID" dirty="0"/>
          </a:p>
        </p:txBody>
      </p:sp>
      <p:pic>
        <p:nvPicPr>
          <p:cNvPr id="6148" name="Picture 69">
            <a:extLst>
              <a:ext uri="{FF2B5EF4-FFF2-40B4-BE49-F238E27FC236}">
                <a16:creationId xmlns:a16="http://schemas.microsoft.com/office/drawing/2014/main" id="{CEA6ABC5-3B9E-42B9-A572-EED2D7584B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7536" y="4152760"/>
            <a:ext cx="4443663" cy="1672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8145321"/>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Use </a:t>
            </a:r>
            <a:r>
              <a:rPr lang="id-ID" dirty="0" err="1"/>
              <a:t>Case</a:t>
            </a:r>
            <a:r>
              <a:rPr lang="id-ID" dirty="0"/>
              <a:t> Diagram</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Use </a:t>
            </a:r>
            <a:r>
              <a:rPr lang="id-ID" dirty="0" err="1"/>
              <a:t>case</a:t>
            </a:r>
            <a:r>
              <a:rPr lang="id-ID" dirty="0"/>
              <a:t> atau diagram </a:t>
            </a:r>
            <a:r>
              <a:rPr lang="id-ID" dirty="0" err="1"/>
              <a:t>use</a:t>
            </a:r>
            <a:r>
              <a:rPr lang="id-ID" dirty="0"/>
              <a:t> </a:t>
            </a:r>
            <a:r>
              <a:rPr lang="id-ID" dirty="0" err="1"/>
              <a:t>case</a:t>
            </a:r>
            <a:r>
              <a:rPr lang="id-ID" dirty="0"/>
              <a:t> merupakan pemodelan untuk perilaku (</a:t>
            </a:r>
            <a:r>
              <a:rPr lang="id-ID" dirty="0" err="1"/>
              <a:t>behavior</a:t>
            </a:r>
            <a:r>
              <a:rPr lang="id-ID" dirty="0"/>
              <a:t>) sistem informasi yang akan dibuat</a:t>
            </a:r>
          </a:p>
        </p:txBody>
      </p:sp>
      <p:pic>
        <p:nvPicPr>
          <p:cNvPr id="5" name="Picture 4">
            <a:extLst>
              <a:ext uri="{FF2B5EF4-FFF2-40B4-BE49-F238E27FC236}">
                <a16:creationId xmlns:a16="http://schemas.microsoft.com/office/drawing/2014/main" id="{64AC4D03-1F06-4164-833F-7A5F481EDE3C}"/>
              </a:ext>
            </a:extLst>
          </p:cNvPr>
          <p:cNvPicPr>
            <a:picLocks noChangeAspect="1"/>
          </p:cNvPicPr>
          <p:nvPr/>
        </p:nvPicPr>
        <p:blipFill>
          <a:blip r:embed="rId3"/>
          <a:stretch>
            <a:fillRect/>
          </a:stretch>
        </p:blipFill>
        <p:spPr>
          <a:xfrm>
            <a:off x="2994990" y="3045744"/>
            <a:ext cx="5945275" cy="2536909"/>
          </a:xfrm>
          <a:prstGeom prst="rect">
            <a:avLst/>
          </a:prstGeom>
        </p:spPr>
      </p:pic>
    </p:spTree>
    <p:extLst>
      <p:ext uri="{BB962C8B-B14F-4D97-AF65-F5344CB8AC3E}">
        <p14:creationId xmlns:p14="http://schemas.microsoft.com/office/powerpoint/2010/main" val="470243769"/>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err="1"/>
              <a:t>Activity</a:t>
            </a:r>
            <a:r>
              <a:rPr lang="id-ID" dirty="0"/>
              <a:t> Diagram</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Diagram aktivitas atau </a:t>
            </a:r>
            <a:r>
              <a:rPr lang="id-ID" dirty="0" err="1"/>
              <a:t>activity</a:t>
            </a:r>
            <a:r>
              <a:rPr lang="id-ID" dirty="0"/>
              <a:t> diagram menggambarkan </a:t>
            </a:r>
            <a:r>
              <a:rPr lang="id-ID" dirty="0" err="1"/>
              <a:t>workflow</a:t>
            </a:r>
            <a:r>
              <a:rPr lang="id-ID" dirty="0"/>
              <a:t> (aliran kerja) atau aktivitas dari sebuah sistem atau proses bisnis atau menu yang ada pada perangkat lunak</a:t>
            </a:r>
          </a:p>
        </p:txBody>
      </p:sp>
    </p:spTree>
    <p:extLst>
      <p:ext uri="{BB962C8B-B14F-4D97-AF65-F5344CB8AC3E}">
        <p14:creationId xmlns:p14="http://schemas.microsoft.com/office/powerpoint/2010/main" val="3592403442"/>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err="1"/>
              <a:t>Sequence</a:t>
            </a:r>
            <a:r>
              <a:rPr lang="id-ID" dirty="0"/>
              <a:t> Diagram</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Diagram </a:t>
            </a:r>
            <a:r>
              <a:rPr lang="id-ID" dirty="0" err="1"/>
              <a:t>sekuen</a:t>
            </a:r>
            <a:r>
              <a:rPr lang="id-ID" dirty="0"/>
              <a:t> menggambarkan perilaku objek pada </a:t>
            </a:r>
            <a:r>
              <a:rPr lang="id-ID" dirty="0" err="1"/>
              <a:t>use</a:t>
            </a:r>
            <a:r>
              <a:rPr lang="id-ID" dirty="0"/>
              <a:t> </a:t>
            </a:r>
            <a:r>
              <a:rPr lang="id-ID" dirty="0" err="1"/>
              <a:t>case</a:t>
            </a:r>
            <a:r>
              <a:rPr lang="id-ID" dirty="0"/>
              <a:t> dengan mendeskripsikan waktu hidup objek dan </a:t>
            </a:r>
            <a:r>
              <a:rPr lang="id-ID" dirty="0" err="1"/>
              <a:t>message</a:t>
            </a:r>
            <a:r>
              <a:rPr lang="id-ID" dirty="0"/>
              <a:t> yang dikirimkan dan diterima antar objek.</a:t>
            </a:r>
          </a:p>
        </p:txBody>
      </p:sp>
    </p:spTree>
    <p:extLst>
      <p:ext uri="{BB962C8B-B14F-4D97-AF65-F5344CB8AC3E}">
        <p14:creationId xmlns:p14="http://schemas.microsoft.com/office/powerpoint/2010/main" val="2554635288"/>
      </p:ext>
    </p:extLst>
  </p:cSld>
  <p:clrMapOvr>
    <a:masterClrMapping/>
  </p:clrMapOvr>
  <mc:AlternateContent xmlns:mc="http://schemas.openxmlformats.org/markup-compatibility/2006">
    <mc:Choice xmlns:p14="http://schemas.microsoft.com/office/powerpoint/2010/main" Requires="p14">
      <p:transition spd="slow" p14:dur="1600">
        <p:blinds dir="vert"/>
        <p:sndAc>
          <p:stSnd>
            <p:snd r:embed="rId2" name="whoosh.wav"/>
          </p:stSnd>
        </p:sndAc>
      </p:transition>
    </mc:Choice>
    <mc:Fallback>
      <p:transition spd="slow">
        <p:blinds dir="vert"/>
        <p:sndAc>
          <p:stSnd>
            <p:snd r:embed="rId2" name="whoosh.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lstStyle/>
          <a:p>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marL="0" indent="0" algn="ctr">
              <a:buNone/>
            </a:pPr>
            <a:r>
              <a:rPr lang="id-ID" sz="6000" dirty="0"/>
              <a:t> Terima kasih</a:t>
            </a:r>
          </a:p>
        </p:txBody>
      </p:sp>
    </p:spTree>
    <p:extLst>
      <p:ext uri="{BB962C8B-B14F-4D97-AF65-F5344CB8AC3E}">
        <p14:creationId xmlns:p14="http://schemas.microsoft.com/office/powerpoint/2010/main" val="188498381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3111</TotalTime>
  <Words>494</Words>
  <Application>Microsoft Office PowerPoint</Application>
  <PresentationFormat>Widescreen</PresentationFormat>
  <Paragraphs>59</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Britannic Bold</vt:lpstr>
      <vt:lpstr>Calibri</vt:lpstr>
      <vt:lpstr>Calibri Light</vt:lpstr>
      <vt:lpstr>Century Gothic</vt:lpstr>
      <vt:lpstr>Office Theme</vt:lpstr>
      <vt:lpstr>PowerPoint Presentation</vt:lpstr>
      <vt:lpstr>Rekayasa Perangkat Lunak Berorientasi Objek </vt:lpstr>
      <vt:lpstr>Keuntungan menggunakan metodologi berorientasi objek </vt:lpstr>
      <vt:lpstr>Konsep Dasar Berorientasi Objek</vt:lpstr>
      <vt:lpstr>Konsep Dasar Berorientasi Objek</vt:lpstr>
      <vt:lpstr>UML</vt:lpstr>
      <vt:lpstr>Diagram UML</vt:lpstr>
      <vt:lpstr>Class Diagram</vt:lpstr>
      <vt:lpstr>Object Diagram</vt:lpstr>
      <vt:lpstr>Component Diagram</vt:lpstr>
      <vt:lpstr>Deployment Diagram</vt:lpstr>
      <vt:lpstr>Use Case Diagram</vt:lpstr>
      <vt:lpstr>Activity Diagram</vt:lpstr>
      <vt:lpstr>Sequence Diagram</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user</dc:creator>
  <cp:lastModifiedBy>Dian Nurdiana, S.Kom., M.Kom.</cp:lastModifiedBy>
  <cp:revision>201</cp:revision>
  <dcterms:created xsi:type="dcterms:W3CDTF">2018-01-15T03:36:45Z</dcterms:created>
  <dcterms:modified xsi:type="dcterms:W3CDTF">2021-08-12T06:41:22Z</dcterms:modified>
</cp:coreProperties>
</file>